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071055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SHORTEST PATHS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8175" y="640080"/>
            <a:ext cx="475488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26517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50292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i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548640" y="4846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shortest path in a weighted graph — efficiently and correctly.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6080760"/>
            <a:ext cx="11094415" cy="0"/>
          </a:xfrm>
          <a:prstGeom prst="line">
            <a:avLst/>
          </a:prstGeom>
          <a:noFill/>
          <a:ln w="9525">
            <a:solidFill>
              <a:srgbClr val="2A35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309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LECTURE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71055" y="6309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60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ALGORITHMS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08076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Dijkstra's Algorithm?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 &amp; intuition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shortest path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Algorithm Works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selection &amp; relaxation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step-by-step procedure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1234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7804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7804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on a small graph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377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space bounds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3520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Limitations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shines &amp; where it fails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4663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7804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78040" y="5029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for exams &amp; interviews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08076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 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finds the shortest path from a single source vertex to all other vertices in a weighted graph with non-negative edge weights.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004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3794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42062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expands the closest unsettled vertex. Locally optimal choices lead to a globally optimal solution.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43400" y="301752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2004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3794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SSSP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17720" y="42062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distances from one starting node to every reachable node in the graph.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38160" y="301752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2004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794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Non-negative Weights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12480" y="42062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edge weights ≥ 0. Negative edges break the greedy proof of correctness.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08076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Shortest Path (SSSP)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Weighted directed or undirected graph G = (V, 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Non-negative edge weights w(u, v) ≥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 vertex s ∈ V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A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Distance δ(s, v) for every vertex 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Shortest-path tree (predecessor pointers)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Path from s to any v can be reconstructed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0F1B2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26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non-negative weights matter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892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vertex is settled (its distance is finalized), it is never revisited. A negative edge could later offer a shorter path, violating this invariant. Use Bellman-Ford when negative weights are possible.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MECHANICS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08076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Greedy Expansion + Edge Relaxation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624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647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16916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dist[s] = 0; dist[v] = ∞ for all other v. Put all vertices in a priority queue keyed by distance.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468880"/>
            <a:ext cx="502920" cy="502920"/>
          </a:xfrm>
          <a:prstGeom prst="ellipse">
            <a:avLst/>
          </a:prstGeom>
          <a:solidFill>
            <a:srgbClr val="8AAE8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420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Extract-Min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24688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extract the unsettled vertex u with the smallest current distance.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246120"/>
            <a:ext cx="502920" cy="502920"/>
          </a:xfrm>
          <a:prstGeom prst="ellipse">
            <a:avLst/>
          </a:prstGeom>
          <a:solidFill>
            <a:srgbClr val="E8624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319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 Neighbors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0" y="32461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edge (u, v): if dist[u] + w(u,v) &lt; dist[v], update dist[v] and decrease-key in the queue.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4023360"/>
            <a:ext cx="502920" cy="502920"/>
          </a:xfrm>
          <a:prstGeom prst="ellipse">
            <a:avLst/>
          </a:prstGeom>
          <a:solidFill>
            <a:srgbClr val="8AAE8E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096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57600" y="40233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extracted, u is permanently settled — its shortest-path distance is final.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4800600"/>
            <a:ext cx="502920" cy="502920"/>
          </a:xfrm>
          <a:prstGeom prst="ellipse">
            <a:avLst/>
          </a:prstGeom>
          <a:solidFill>
            <a:srgbClr val="E8624D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8737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800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57600" y="48006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priority queue is empty, all reachable vertices have their correct distances.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PSEUDOCODE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080760"/>
            <a:ext cx="11094415" cy="0"/>
          </a:xfrm>
          <a:prstGeom prst="line">
            <a:avLst/>
          </a:prstGeom>
          <a:noFill/>
          <a:ln w="9525">
            <a:solidFill>
              <a:srgbClr val="2A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60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Dijkstra(G, w, s)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for each vertex v ∈ V 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dist[v] ← ∞ ;  pred[v] ← NIL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dist[s] ← 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Q ← V                          // priority queue keyed by dist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while Q is not empty 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   u ← Extract-Min(Q)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   for each vertex v adjacent to u 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        if dist[v] &gt; dist[u] + w(u, v) then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526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            dist[v] ← dist[u] + w(u, v)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        pred[v] ← 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          Decrease-Key(Q, v)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08076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on a 5-vertex graph (source = A)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155448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19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40280" y="1645920"/>
            <a:ext cx="155448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1719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0" y="1645920"/>
            <a:ext cx="155448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719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0680" y="1645920"/>
            <a:ext cx="155448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719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0880" y="1645920"/>
            <a:ext cx="155448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719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41080" y="1645920"/>
            <a:ext cx="155448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9" name="Text 17"/>
          <p:cNvSpPr/>
          <p:nvPr/>
        </p:nvSpPr>
        <p:spPr>
          <a:xfrm>
            <a:off x="8641080" y="1719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241280" y="1645920"/>
            <a:ext cx="155448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0" y="1719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05740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40280" y="205740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24028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840480" y="205740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40680" y="205740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44068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040880" y="205740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641080" y="205740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64108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241280" y="205740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024128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256032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2651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240280" y="256032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39" name="Text 37"/>
          <p:cNvSpPr/>
          <p:nvPr/>
        </p:nvSpPr>
        <p:spPr>
          <a:xfrm>
            <a:off x="2240280" y="2651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840480" y="256032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0" y="2651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40680" y="256032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43" name="Text 41"/>
          <p:cNvSpPr/>
          <p:nvPr/>
        </p:nvSpPr>
        <p:spPr>
          <a:xfrm>
            <a:off x="5440680" y="2651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040880" y="256032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45" name="Text 43"/>
          <p:cNvSpPr/>
          <p:nvPr/>
        </p:nvSpPr>
        <p:spPr>
          <a:xfrm>
            <a:off x="7040880" y="2651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641080" y="256032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47" name="Text 45"/>
          <p:cNvSpPr/>
          <p:nvPr/>
        </p:nvSpPr>
        <p:spPr>
          <a:xfrm>
            <a:off x="8641080" y="2651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0241280" y="256032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49" name="Text 47"/>
          <p:cNvSpPr/>
          <p:nvPr/>
        </p:nvSpPr>
        <p:spPr>
          <a:xfrm>
            <a:off x="10241280" y="2651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40080" y="306324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240280" y="306324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224028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3840480" y="306324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384048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440680" y="306324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544068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040880" y="306324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704088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8641080" y="306324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864108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10241280" y="306324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1024128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40080" y="356616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65" name="Text 63"/>
          <p:cNvSpPr/>
          <p:nvPr/>
        </p:nvSpPr>
        <p:spPr>
          <a:xfrm>
            <a:off x="64008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2240280" y="356616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67" name="Text 65"/>
          <p:cNvSpPr/>
          <p:nvPr/>
        </p:nvSpPr>
        <p:spPr>
          <a:xfrm>
            <a:off x="224028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3840480" y="356616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69" name="Text 67"/>
          <p:cNvSpPr/>
          <p:nvPr/>
        </p:nvSpPr>
        <p:spPr>
          <a:xfrm>
            <a:off x="384048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5440680" y="356616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71" name="Text 69"/>
          <p:cNvSpPr/>
          <p:nvPr/>
        </p:nvSpPr>
        <p:spPr>
          <a:xfrm>
            <a:off x="544068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7040880" y="356616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73" name="Text 71"/>
          <p:cNvSpPr/>
          <p:nvPr/>
        </p:nvSpPr>
        <p:spPr>
          <a:xfrm>
            <a:off x="704088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8641080" y="356616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75" name="Text 73"/>
          <p:cNvSpPr/>
          <p:nvPr/>
        </p:nvSpPr>
        <p:spPr>
          <a:xfrm>
            <a:off x="864108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10241280" y="356616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77" name="Text 75"/>
          <p:cNvSpPr/>
          <p:nvPr/>
        </p:nvSpPr>
        <p:spPr>
          <a:xfrm>
            <a:off x="1024128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640080" y="406908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64008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2240280" y="406908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224028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3840480" y="406908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384048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5440680" y="406908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544068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7040880" y="406908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704088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8641080" y="406908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864108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10241280" y="4069080"/>
            <a:ext cx="15544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1024128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640080" y="457200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93" name="Text 91"/>
          <p:cNvSpPr/>
          <p:nvPr/>
        </p:nvSpPr>
        <p:spPr>
          <a:xfrm>
            <a:off x="64008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2240280" y="457200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95" name="Text 93"/>
          <p:cNvSpPr/>
          <p:nvPr/>
        </p:nvSpPr>
        <p:spPr>
          <a:xfrm>
            <a:off x="224028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3840480" y="457200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97" name="Text 95"/>
          <p:cNvSpPr/>
          <p:nvPr/>
        </p:nvSpPr>
        <p:spPr>
          <a:xfrm>
            <a:off x="384048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5440680" y="457200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99" name="Text 97"/>
          <p:cNvSpPr/>
          <p:nvPr/>
        </p:nvSpPr>
        <p:spPr>
          <a:xfrm>
            <a:off x="544068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7040880" y="457200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01" name="Text 99"/>
          <p:cNvSpPr/>
          <p:nvPr/>
        </p:nvSpPr>
        <p:spPr>
          <a:xfrm>
            <a:off x="704088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2" name="Shape 100"/>
          <p:cNvSpPr/>
          <p:nvPr/>
        </p:nvSpPr>
        <p:spPr>
          <a:xfrm>
            <a:off x="8641080" y="457200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03" name="Text 101"/>
          <p:cNvSpPr/>
          <p:nvPr/>
        </p:nvSpPr>
        <p:spPr>
          <a:xfrm>
            <a:off x="864108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10241280" y="4572000"/>
            <a:ext cx="1554480" cy="502920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05" name="Text 103"/>
          <p:cNvSpPr/>
          <p:nvPr/>
        </p:nvSpPr>
        <p:spPr>
          <a:xfrm>
            <a:off x="1024128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06" name="Text 104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distances:  A=0,  B=3,  C=2,  D=7,  E=5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08076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depends on the Priority Queue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/ List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O(V²)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array of distances. Good for dense graphs.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178308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Heap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423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O((V+E) log V)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binary heap. Practical default choice.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Heap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2423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O(E + V log V)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66760" y="31089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best theoretical bound. Rarely used in practice.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0F1B2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26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937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 for distance and predecessor arrays, plus the space required by the priority queue (typically O(V)). Overall space is linear in the number of vertices.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USE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080760"/>
            <a:ext cx="11094415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6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LIMITS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2103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GPS &amp; road-network routing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2606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Network routing protocols (OSPF)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3108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Social-network distance metrics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3611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Robot path planning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4114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Flight / logistics optimization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4617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IP packet forwarding tables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17920" y="118872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5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4088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583680" y="2103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Fails with negative edge weights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583680" y="2606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Not ideal for all-pairs (use Floyd-Warshall)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583680" y="3108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Dense graphs → O(V²) still costly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583680" y="3611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Does not handle dynamic graphs well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583680" y="4114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Priority-queue overhead can dominate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583680" y="4617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Needs Bellman-Ford for negatives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362895" y="411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080760"/>
            <a:ext cx="11094415" cy="0"/>
          </a:xfrm>
          <a:prstGeom prst="line">
            <a:avLst/>
          </a:prstGeom>
          <a:noFill/>
          <a:ln w="9525">
            <a:solidFill>
              <a:srgbClr val="2A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600" kern="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these points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7830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 that always settles the closest unsettled vertex.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560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with non-negative edge weights; use Bellman-Ford otherwise.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3375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O((V+E) log V) with binary heap — the practical choice.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1148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both distances and a shortest-path tree via predecessor pointers.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892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routing, navigation, and network protocols.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Algorithm — Design &amp; Analysis of Algorithms</dc:title>
  <dc:subject>PptxGenJS Presentation</dc:subject>
  <dc:creator>DAA Lecture</dc:creator>
  <cp:lastModifiedBy>DAA Lecture</cp:lastModifiedBy>
  <cp:revision>1</cp:revision>
  <dcterms:created xsi:type="dcterms:W3CDTF">2026-10-21T07:20:32Z</dcterms:created>
  <dcterms:modified xsi:type="dcterms:W3CDTF">2026-10-21T07:20:32Z</dcterms:modified>
</cp:coreProperties>
</file>